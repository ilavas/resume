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5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905" cy="6858000"/>
          </a:xfrm>
          <a:custGeom>
            <a:avLst/>
            <a:gdLst/>
            <a:ahLst/>
            <a:cxnLst/>
            <a:rect l="l" t="t" r="r" b="b"/>
            <a:pathLst>
              <a:path w="12193905" h="6858000">
                <a:moveTo>
                  <a:pt x="12193524" y="0"/>
                </a:moveTo>
                <a:lnTo>
                  <a:pt x="0" y="0"/>
                </a:lnTo>
                <a:lnTo>
                  <a:pt x="0" y="6858000"/>
                </a:lnTo>
                <a:lnTo>
                  <a:pt x="12193524" y="6858000"/>
                </a:lnTo>
                <a:lnTo>
                  <a:pt x="12193524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644884" y="333756"/>
            <a:ext cx="274320" cy="228600"/>
          </a:xfrm>
          <a:custGeom>
            <a:avLst/>
            <a:gdLst/>
            <a:ahLst/>
            <a:cxnLst/>
            <a:rect l="l" t="t" r="r" b="b"/>
            <a:pathLst>
              <a:path w="274320" h="228600">
                <a:moveTo>
                  <a:pt x="205740" y="0"/>
                </a:moveTo>
                <a:lnTo>
                  <a:pt x="173125" y="9722"/>
                </a:lnTo>
                <a:lnTo>
                  <a:pt x="146692" y="35043"/>
                </a:lnTo>
                <a:lnTo>
                  <a:pt x="123142" y="70198"/>
                </a:lnTo>
                <a:lnTo>
                  <a:pt x="99177" y="109419"/>
                </a:lnTo>
                <a:lnTo>
                  <a:pt x="71500" y="146939"/>
                </a:lnTo>
                <a:lnTo>
                  <a:pt x="64436" y="170307"/>
                </a:lnTo>
                <a:lnTo>
                  <a:pt x="48895" y="190341"/>
                </a:lnTo>
                <a:lnTo>
                  <a:pt x="26781" y="205374"/>
                </a:lnTo>
                <a:lnTo>
                  <a:pt x="0" y="213741"/>
                </a:lnTo>
                <a:lnTo>
                  <a:pt x="8647" y="219813"/>
                </a:lnTo>
                <a:lnTo>
                  <a:pt x="20986" y="224504"/>
                </a:lnTo>
                <a:lnTo>
                  <a:pt x="36325" y="227528"/>
                </a:lnTo>
                <a:lnTo>
                  <a:pt x="53975" y="228600"/>
                </a:lnTo>
                <a:lnTo>
                  <a:pt x="89217" y="226052"/>
                </a:lnTo>
                <a:lnTo>
                  <a:pt x="124745" y="218217"/>
                </a:lnTo>
                <a:lnTo>
                  <a:pt x="156987" y="204811"/>
                </a:lnTo>
                <a:lnTo>
                  <a:pt x="182372" y="185547"/>
                </a:lnTo>
                <a:lnTo>
                  <a:pt x="156527" y="181945"/>
                </a:lnTo>
                <a:lnTo>
                  <a:pt x="136588" y="169973"/>
                </a:lnTo>
                <a:lnTo>
                  <a:pt x="123507" y="151310"/>
                </a:lnTo>
                <a:lnTo>
                  <a:pt x="118237" y="127635"/>
                </a:lnTo>
                <a:lnTo>
                  <a:pt x="132169" y="141946"/>
                </a:lnTo>
                <a:lnTo>
                  <a:pt x="147589" y="151637"/>
                </a:lnTo>
                <a:lnTo>
                  <a:pt x="164367" y="157138"/>
                </a:lnTo>
                <a:lnTo>
                  <a:pt x="182372" y="158877"/>
                </a:lnTo>
                <a:lnTo>
                  <a:pt x="218277" y="151338"/>
                </a:lnTo>
                <a:lnTo>
                  <a:pt x="247491" y="130857"/>
                </a:lnTo>
                <a:lnTo>
                  <a:pt x="267132" y="100637"/>
                </a:lnTo>
                <a:lnTo>
                  <a:pt x="274320" y="63881"/>
                </a:lnTo>
                <a:lnTo>
                  <a:pt x="270587" y="44469"/>
                </a:lnTo>
                <a:lnTo>
                  <a:pt x="260842" y="23558"/>
                </a:lnTo>
                <a:lnTo>
                  <a:pt x="240690" y="6838"/>
                </a:lnTo>
                <a:lnTo>
                  <a:pt x="205740" y="0"/>
                </a:lnTo>
                <a:close/>
              </a:path>
            </a:pathLst>
          </a:custGeom>
          <a:solidFill>
            <a:srgbClr val="12A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503152" y="173736"/>
            <a:ext cx="416559" cy="354330"/>
          </a:xfrm>
          <a:custGeom>
            <a:avLst/>
            <a:gdLst/>
            <a:ahLst/>
            <a:cxnLst/>
            <a:rect l="l" t="t" r="r" b="b"/>
            <a:pathLst>
              <a:path w="416559" h="354330">
                <a:moveTo>
                  <a:pt x="222630" y="0"/>
                </a:moveTo>
                <a:lnTo>
                  <a:pt x="198844" y="22070"/>
                </a:lnTo>
                <a:lnTo>
                  <a:pt x="166949" y="43878"/>
                </a:lnTo>
                <a:lnTo>
                  <a:pt x="130423" y="66544"/>
                </a:lnTo>
                <a:lnTo>
                  <a:pt x="92741" y="91186"/>
                </a:lnTo>
                <a:lnTo>
                  <a:pt x="57382" y="118923"/>
                </a:lnTo>
                <a:lnTo>
                  <a:pt x="27820" y="150875"/>
                </a:lnTo>
                <a:lnTo>
                  <a:pt x="7534" y="188162"/>
                </a:lnTo>
                <a:lnTo>
                  <a:pt x="0" y="231902"/>
                </a:lnTo>
                <a:lnTo>
                  <a:pt x="5508" y="268354"/>
                </a:lnTo>
                <a:lnTo>
                  <a:pt x="45434" y="328021"/>
                </a:lnTo>
                <a:lnTo>
                  <a:pt x="96712" y="352139"/>
                </a:lnTo>
                <a:lnTo>
                  <a:pt x="116347" y="354234"/>
                </a:lnTo>
                <a:lnTo>
                  <a:pt x="136007" y="352758"/>
                </a:lnTo>
                <a:lnTo>
                  <a:pt x="172344" y="341018"/>
                </a:lnTo>
                <a:lnTo>
                  <a:pt x="213868" y="308229"/>
                </a:lnTo>
                <a:lnTo>
                  <a:pt x="247677" y="261364"/>
                </a:lnTo>
                <a:lnTo>
                  <a:pt x="276986" y="214106"/>
                </a:lnTo>
                <a:lnTo>
                  <a:pt x="308201" y="177587"/>
                </a:lnTo>
                <a:lnTo>
                  <a:pt x="347725" y="162941"/>
                </a:lnTo>
                <a:lnTo>
                  <a:pt x="404191" y="162941"/>
                </a:lnTo>
                <a:lnTo>
                  <a:pt x="396239" y="141763"/>
                </a:lnTo>
                <a:lnTo>
                  <a:pt x="373725" y="106425"/>
                </a:lnTo>
                <a:lnTo>
                  <a:pt x="344804" y="74803"/>
                </a:lnTo>
                <a:lnTo>
                  <a:pt x="292036" y="34671"/>
                </a:lnTo>
                <a:lnTo>
                  <a:pt x="232791" y="4445"/>
                </a:lnTo>
                <a:lnTo>
                  <a:pt x="229870" y="2921"/>
                </a:lnTo>
                <a:lnTo>
                  <a:pt x="226949" y="1524"/>
                </a:lnTo>
                <a:lnTo>
                  <a:pt x="222630" y="0"/>
                </a:lnTo>
                <a:close/>
              </a:path>
              <a:path w="416559" h="354330">
                <a:moveTo>
                  <a:pt x="404191" y="162941"/>
                </a:moveTo>
                <a:lnTo>
                  <a:pt x="347725" y="162941"/>
                </a:lnTo>
                <a:lnTo>
                  <a:pt x="382529" y="169695"/>
                </a:lnTo>
                <a:lnTo>
                  <a:pt x="402605" y="186213"/>
                </a:lnTo>
                <a:lnTo>
                  <a:pt x="412323" y="206875"/>
                </a:lnTo>
                <a:lnTo>
                  <a:pt x="416051" y="226060"/>
                </a:lnTo>
                <a:lnTo>
                  <a:pt x="416051" y="223012"/>
                </a:lnTo>
                <a:lnTo>
                  <a:pt x="410848" y="180673"/>
                </a:lnTo>
                <a:lnTo>
                  <a:pt x="404191" y="162941"/>
                </a:lnTo>
                <a:close/>
              </a:path>
            </a:pathLst>
          </a:custGeom>
          <a:solidFill>
            <a:srgbClr val="006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56814" y="245821"/>
            <a:ext cx="7284720" cy="344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github.com/ILAVAS/Resume.git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380" y="6655377"/>
            <a:ext cx="11707495" cy="122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  <a:tabLst>
                <a:tab pos="9355455" algn="l"/>
                <a:tab pos="11642725" algn="l"/>
              </a:tabLst>
            </a:pP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P</a:t>
            </a:r>
            <a:r>
              <a:rPr sz="800" spc="-20" dirty="0">
                <a:solidFill>
                  <a:srgbClr val="A6A6A6"/>
                </a:solidFill>
                <a:latin typeface="Verdana"/>
                <a:cs typeface="Verdana"/>
              </a:rPr>
              <a:t>r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spc="-25" dirty="0">
                <a:solidFill>
                  <a:srgbClr val="A6A6A6"/>
                </a:solidFill>
                <a:latin typeface="Verdana"/>
                <a:cs typeface="Verdana"/>
              </a:rPr>
              <a:t>s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en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t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a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t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i</a:t>
            </a:r>
            <a:r>
              <a:rPr sz="800" spc="-20" dirty="0">
                <a:solidFill>
                  <a:srgbClr val="A6A6A6"/>
                </a:solidFill>
                <a:latin typeface="Verdana"/>
                <a:cs typeface="Verdana"/>
              </a:rPr>
              <a:t>o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n</a:t>
            </a:r>
            <a:r>
              <a:rPr sz="800" spc="114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T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i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t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l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spc="-3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|</a:t>
            </a:r>
            <a:r>
              <a:rPr sz="800" spc="4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Au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t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h</a:t>
            </a:r>
            <a:r>
              <a:rPr sz="800" spc="-20" dirty="0">
                <a:solidFill>
                  <a:srgbClr val="A6A6A6"/>
                </a:solidFill>
                <a:latin typeface="Verdana"/>
                <a:cs typeface="Verdana"/>
              </a:rPr>
              <a:t>o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r</a:t>
            </a:r>
            <a:r>
              <a:rPr sz="800" spc="2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|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D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a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t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	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©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25" dirty="0">
                <a:solidFill>
                  <a:srgbClr val="A6A6A6"/>
                </a:solidFill>
                <a:latin typeface="Verdana"/>
                <a:cs typeface="Verdana"/>
              </a:rPr>
              <a:t>C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a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pg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spc="-25" dirty="0">
                <a:solidFill>
                  <a:srgbClr val="A6A6A6"/>
                </a:solidFill>
                <a:latin typeface="Verdana"/>
                <a:cs typeface="Verdana"/>
              </a:rPr>
              <a:t>m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i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ni</a:t>
            </a:r>
            <a:r>
              <a:rPr sz="800" spc="7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2017.</a:t>
            </a:r>
            <a:r>
              <a:rPr sz="800" spc="4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All</a:t>
            </a:r>
            <a:r>
              <a:rPr sz="800" spc="4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A6A6A6"/>
                </a:solidFill>
                <a:latin typeface="Verdana"/>
                <a:cs typeface="Verdana"/>
              </a:rPr>
              <a:t>r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i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g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h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t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s</a:t>
            </a:r>
            <a:r>
              <a:rPr sz="800" spc="2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A6A6A6"/>
                </a:solidFill>
                <a:latin typeface="Verdana"/>
                <a:cs typeface="Verdana"/>
              </a:rPr>
              <a:t>r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spc="-25" dirty="0">
                <a:solidFill>
                  <a:srgbClr val="A6A6A6"/>
                </a:solidFill>
                <a:latin typeface="Verdana"/>
                <a:cs typeface="Verdana"/>
              </a:rPr>
              <a:t>s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spc="-20" dirty="0">
                <a:solidFill>
                  <a:srgbClr val="A6A6A6"/>
                </a:solidFill>
                <a:latin typeface="Verdana"/>
                <a:cs typeface="Verdana"/>
              </a:rPr>
              <a:t>r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v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d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1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spc="-5" dirty="0">
                <a:solidFill>
                  <a:srgbClr val="12ABDB"/>
                </a:solidFill>
                <a:latin typeface="Verdana"/>
                <a:cs typeface="Verdana"/>
              </a:rPr>
              <a:t>|</a:t>
            </a:r>
            <a:r>
              <a:rPr sz="800" dirty="0">
                <a:solidFill>
                  <a:srgbClr val="12ABDB"/>
                </a:solidFill>
                <a:latin typeface="Verdana"/>
                <a:cs typeface="Verdana"/>
              </a:rPr>
              <a:t>	</a:t>
            </a:r>
            <a:r>
              <a:rPr sz="800" spc="-10" dirty="0">
                <a:solidFill>
                  <a:srgbClr val="A6A6A6"/>
                </a:solidFill>
                <a:latin typeface="Verdana"/>
                <a:cs typeface="Verdana"/>
              </a:rPr>
              <a:t>1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192" y="80068"/>
            <a:ext cx="12179808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238369" y="2573273"/>
            <a:ext cx="112712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20" dirty="0">
                <a:solidFill>
                  <a:srgbClr val="006FAC"/>
                </a:solidFill>
                <a:latin typeface="Verdana"/>
                <a:cs typeface="Verdana"/>
              </a:rPr>
              <a:t>Achievement</a:t>
            </a:r>
            <a:endParaRPr sz="115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723" y="2135123"/>
            <a:ext cx="5107305" cy="672465"/>
            <a:chOff x="77723" y="2135123"/>
            <a:chExt cx="5107305" cy="672465"/>
          </a:xfrm>
        </p:grpSpPr>
        <p:sp>
          <p:nvSpPr>
            <p:cNvPr id="6" name="object 6"/>
            <p:cNvSpPr/>
            <p:nvPr/>
          </p:nvSpPr>
          <p:spPr>
            <a:xfrm>
              <a:off x="77723" y="2135123"/>
              <a:ext cx="612648" cy="6126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41164" y="2363723"/>
              <a:ext cx="443484" cy="44348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400408"/>
              </p:ext>
            </p:extLst>
          </p:nvPr>
        </p:nvGraphicFramePr>
        <p:xfrm>
          <a:off x="9265159" y="1375541"/>
          <a:ext cx="2912134" cy="47532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8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259">
                <a:tc>
                  <a:txBody>
                    <a:bodyPr/>
                    <a:lstStyle/>
                    <a:p>
                      <a:pPr marL="946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Carlito"/>
                          <a:cs typeface="Carlito"/>
                        </a:rPr>
                        <a:t>Spring</a:t>
                      </a:r>
                    </a:p>
                    <a:p>
                      <a:pPr marL="9461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150" dirty="0">
                        <a:latin typeface="Carlito"/>
                        <a:cs typeface="Carlito"/>
                      </a:endParaRPr>
                    </a:p>
                  </a:txBody>
                  <a:tcPr marL="0" marR="0" marT="46990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 marR="151130">
                        <a:lnSpc>
                          <a:spcPct val="104299"/>
                        </a:lnSpc>
                        <a:spcBef>
                          <a:spcPts val="310"/>
                        </a:spcBef>
                      </a:pPr>
                      <a:r>
                        <a:rPr lang="en-IN" sz="1100" spc="-35" dirty="0">
                          <a:latin typeface="Carlito"/>
                          <a:cs typeface="Carlito"/>
                        </a:rPr>
                        <a:t>Spring Boot , Spring Rest Services</a:t>
                      </a:r>
                      <a:endParaRPr sz="1150" dirty="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873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200" dirty="0">
                          <a:latin typeface="Carlito"/>
                          <a:cs typeface="Carlito"/>
                        </a:rPr>
                        <a:t>Web Technologies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IN" sz="1200" spc="-35" dirty="0">
                          <a:latin typeface="Carlito"/>
                          <a:cs typeface="Carlito"/>
                        </a:rPr>
                        <a:t>HTML</a:t>
                      </a:r>
                    </a:p>
                    <a:p>
                      <a:pPr marL="1663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IN" sz="1200" spc="-35" dirty="0">
                          <a:latin typeface="Carlito"/>
                          <a:cs typeface="Carlito"/>
                        </a:rPr>
                        <a:t>CSS</a:t>
                      </a:r>
                    </a:p>
                    <a:p>
                      <a:pPr marL="1663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IN" sz="1200" spc="-35" dirty="0">
                          <a:latin typeface="Carlito"/>
                          <a:cs typeface="Carlito"/>
                        </a:rPr>
                        <a:t>JavaScript</a:t>
                      </a:r>
                    </a:p>
                    <a:p>
                      <a:pPr marL="1663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IN" sz="1200" spc="-35" dirty="0">
                          <a:latin typeface="Carlito"/>
                          <a:cs typeface="Carlito"/>
                        </a:rPr>
                        <a:t>Bootstrap</a:t>
                      </a:r>
                    </a:p>
                    <a:p>
                      <a:pPr marL="1663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lang="en-US" sz="1150" dirty="0">
                          <a:latin typeface="Carlito"/>
                          <a:cs typeface="Carlito"/>
                        </a:rPr>
                        <a:t>Database</a:t>
                      </a:r>
                      <a:endParaRPr sz="1150" dirty="0">
                        <a:latin typeface="Carlito"/>
                        <a:cs typeface="Carlito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150" dirty="0" err="1">
                          <a:latin typeface="Carlito"/>
                          <a:cs typeface="Carlito"/>
                        </a:rPr>
                        <a:t>postgre</a:t>
                      </a:r>
                      <a:r>
                        <a:rPr lang="en-US" sz="1150" dirty="0">
                          <a:latin typeface="Carlito"/>
                          <a:cs typeface="Carlito"/>
                        </a:rPr>
                        <a:t> SQL </a:t>
                      </a:r>
                      <a:endParaRPr sz="1150" dirty="0">
                        <a:latin typeface="Carlito"/>
                        <a:cs typeface="Carlito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785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lang="en-US" sz="1150" dirty="0">
                          <a:latin typeface="Carlito"/>
                          <a:cs typeface="Carlito"/>
                        </a:rPr>
                        <a:t>Tools</a:t>
                      </a:r>
                      <a:endParaRPr sz="1150" dirty="0">
                        <a:latin typeface="Carlito"/>
                        <a:cs typeface="Carlito"/>
                      </a:endParaRPr>
                    </a:p>
                  </a:txBody>
                  <a:tcPr marL="0" marR="0" marT="48260" marB="0"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lang="en-US" sz="1150" spc="15" dirty="0">
                          <a:latin typeface="Carlito"/>
                          <a:cs typeface="Carlito"/>
                        </a:rPr>
                        <a:t>Git &amp; GitHub, Eclipse, STS </a:t>
                      </a:r>
                      <a:r>
                        <a:rPr lang="en-US" sz="1150" spc="5" dirty="0">
                          <a:latin typeface="Carlito"/>
                          <a:cs typeface="Carlito"/>
                        </a:rPr>
                        <a:t>Postman , </a:t>
                      </a:r>
                      <a:r>
                        <a:rPr lang="en-US" sz="1200" spc="-5" dirty="0">
                          <a:latin typeface="Carlito"/>
                          <a:cs typeface="Carlito"/>
                        </a:rPr>
                        <a:t>Visual </a:t>
                      </a:r>
                      <a:r>
                        <a:rPr lang="en-US" sz="1200" spc="-10" dirty="0">
                          <a:latin typeface="Carlito"/>
                          <a:cs typeface="Carlito"/>
                        </a:rPr>
                        <a:t>Studio</a:t>
                      </a:r>
                      <a:r>
                        <a:rPr lang="en-US" sz="1200" spc="7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lang="en-US" sz="1200" spc="-15" dirty="0">
                          <a:latin typeface="Carlito"/>
                          <a:cs typeface="Carlito"/>
                        </a:rPr>
                        <a:t>Code, </a:t>
                      </a:r>
                      <a:r>
                        <a:rPr lang="en-US" sz="1200" spc="-15" dirty="0" err="1">
                          <a:latin typeface="Carlito"/>
                          <a:cs typeface="Carlito"/>
                        </a:rPr>
                        <a:t>pg</a:t>
                      </a:r>
                      <a:r>
                        <a:rPr lang="en-US" sz="1200" spc="-15" dirty="0">
                          <a:latin typeface="Carlito"/>
                          <a:cs typeface="Carlito"/>
                        </a:rPr>
                        <a:t> Admin 4.</a:t>
                      </a:r>
                      <a:endParaRPr sz="1150" dirty="0">
                        <a:latin typeface="Carlito"/>
                        <a:cs typeface="Carlito"/>
                      </a:endParaRPr>
                    </a:p>
                  </a:txBody>
                  <a:tcPr marL="0" marR="0" marT="48260" marB="0"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58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sz="1200" dirty="0">
                          <a:latin typeface="Carlito"/>
                          <a:cs typeface="Carlito"/>
                        </a:rPr>
                        <a:t>Back End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150" dirty="0">
                          <a:latin typeface="Carlito"/>
                          <a:cs typeface="Carlito"/>
                        </a:rPr>
                        <a:t>Node.js.</a:t>
                      </a:r>
                      <a:endParaRPr sz="1150" dirty="0">
                        <a:latin typeface="Carlito"/>
                        <a:cs typeface="Carlito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418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lang="en-US" sz="1150" dirty="0">
                          <a:latin typeface="Carlito"/>
                          <a:cs typeface="Carlito"/>
                        </a:rPr>
                        <a:t>Add on Skills</a:t>
                      </a:r>
                      <a:endParaRPr sz="1150" dirty="0">
                        <a:latin typeface="Carlito"/>
                        <a:cs typeface="Carlito"/>
                      </a:endParaRPr>
                    </a:p>
                  </a:txBody>
                  <a:tcPr marL="0" marR="0" marT="49530" marB="0"/>
                </a:tc>
                <a:tc>
                  <a:txBody>
                    <a:bodyPr/>
                    <a:lstStyle/>
                    <a:p>
                      <a:pPr marL="16637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pc="10" dirty="0">
                          <a:latin typeface="Carlito"/>
                          <a:cs typeface="Carlito"/>
                        </a:rPr>
                        <a:t> Immersive</a:t>
                      </a:r>
                      <a:r>
                        <a:rPr lang="en-US" sz="1200" spc="8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lang="en-US" sz="1200" spc="10" dirty="0">
                          <a:latin typeface="Carlito"/>
                          <a:cs typeface="Carlito"/>
                        </a:rPr>
                        <a:t>Learning and Java</a:t>
                      </a:r>
                      <a:endParaRPr lang="en-US" sz="1200" dirty="0">
                        <a:latin typeface="Carlito"/>
                        <a:cs typeface="Carlito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2928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150" spc="10" dirty="0">
                          <a:latin typeface="Carlito"/>
                          <a:cs typeface="Carlito"/>
                        </a:rPr>
                        <a:t>Add</a:t>
                      </a:r>
                      <a:r>
                        <a:rPr lang="en-US" sz="1150" spc="10" dirty="0">
                          <a:latin typeface="Carlito"/>
                          <a:cs typeface="Carlito"/>
                        </a:rPr>
                        <a:t>itional Skills</a:t>
                      </a:r>
                      <a:endParaRPr sz="1150" dirty="0">
                        <a:latin typeface="Carlito"/>
                        <a:cs typeface="Carlito"/>
                      </a:endParaRPr>
                    </a:p>
                  </a:txBody>
                  <a:tcPr marL="0" marR="0" marT="45085" marB="0">
                    <a:lnB w="12700">
                      <a:solidFill>
                        <a:srgbClr val="12ABDB"/>
                      </a:solidFill>
                      <a:prstDash val="solid"/>
                    </a:lnB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150" dirty="0">
                          <a:latin typeface="Carlito"/>
                          <a:cs typeface="Carlito"/>
                        </a:rPr>
                        <a:t>Innovative Thinking</a:t>
                      </a:r>
                    </a:p>
                    <a:p>
                      <a:pPr marL="1663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150" dirty="0">
                          <a:latin typeface="Carlito"/>
                          <a:cs typeface="Carlito"/>
                        </a:rPr>
                        <a:t>Attention to Detail</a:t>
                      </a:r>
                    </a:p>
                    <a:p>
                      <a:pPr marL="1663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150" dirty="0">
                          <a:latin typeface="Carlito"/>
                          <a:cs typeface="Carlito"/>
                        </a:rPr>
                        <a:t>Teamwork</a:t>
                      </a:r>
                    </a:p>
                    <a:p>
                      <a:pPr marL="1663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150" dirty="0">
                          <a:latin typeface="Carlito"/>
                          <a:cs typeface="Carlito"/>
                        </a:rPr>
                        <a:t>Initiative-Driven</a:t>
                      </a:r>
                      <a:endParaRPr sz="1150" dirty="0">
                        <a:latin typeface="Carlito"/>
                        <a:cs typeface="Carlito"/>
                      </a:endParaRPr>
                    </a:p>
                  </a:txBody>
                  <a:tcPr marL="0" marR="0" marT="50165" marB="0">
                    <a:lnB w="12700">
                      <a:solidFill>
                        <a:srgbClr val="12ABDB"/>
                      </a:solidFill>
                      <a:prstDash val="solid"/>
                    </a:lnB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775072" y="3234830"/>
            <a:ext cx="3054350" cy="22377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lang="en-IN" sz="1150" b="1" spc="20" dirty="0">
                <a:latin typeface="Verdana"/>
                <a:cs typeface="Verdana"/>
              </a:rPr>
              <a:t>INTERVIEW TRACKING SYSTEM</a:t>
            </a:r>
            <a:endParaRPr sz="115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75072" y="3781501"/>
            <a:ext cx="3881120" cy="10570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9300"/>
              </a:lnSpc>
              <a:spcBef>
                <a:spcPts val="105"/>
              </a:spcBef>
            </a:pPr>
            <a:r>
              <a:rPr sz="1150" spc="20" dirty="0">
                <a:latin typeface="Verdana"/>
                <a:cs typeface="Verdana"/>
              </a:rPr>
              <a:t>Case study </a:t>
            </a:r>
            <a:r>
              <a:rPr sz="1150" spc="15" dirty="0">
                <a:latin typeface="Verdana"/>
                <a:cs typeface="Verdana"/>
              </a:rPr>
              <a:t>of </a:t>
            </a:r>
            <a:r>
              <a:rPr lang="en-IN" sz="1150" spc="15" dirty="0">
                <a:latin typeface="Verdana"/>
                <a:cs typeface="Verdana"/>
              </a:rPr>
              <a:t>Interview Tracking </a:t>
            </a:r>
            <a:r>
              <a:rPr sz="1150" spc="25" dirty="0">
                <a:latin typeface="Verdana"/>
                <a:cs typeface="Verdana"/>
              </a:rPr>
              <a:t>System  </a:t>
            </a:r>
            <a:r>
              <a:rPr sz="1150" spc="15" dirty="0">
                <a:latin typeface="Verdana"/>
                <a:cs typeface="Verdana"/>
              </a:rPr>
              <a:t>along with </a:t>
            </a:r>
            <a:r>
              <a:rPr sz="1150" spc="25" dirty="0">
                <a:latin typeface="Verdana"/>
                <a:cs typeface="Verdana"/>
              </a:rPr>
              <a:t>API </a:t>
            </a:r>
            <a:r>
              <a:rPr sz="1150" spc="10" dirty="0">
                <a:latin typeface="Verdana"/>
                <a:cs typeface="Verdana"/>
              </a:rPr>
              <a:t>Gateway, </a:t>
            </a:r>
            <a:r>
              <a:rPr lang="en-US" sz="1150" spc="10" dirty="0">
                <a:latin typeface="Verdana"/>
                <a:cs typeface="Verdana"/>
              </a:rPr>
              <a:t>Postman</a:t>
            </a:r>
            <a:r>
              <a:rPr sz="1150" dirty="0">
                <a:latin typeface="Verdana"/>
                <a:cs typeface="Verdana"/>
              </a:rPr>
              <a:t>, </a:t>
            </a:r>
            <a:r>
              <a:rPr sz="1150" spc="20" dirty="0">
                <a:latin typeface="Verdana"/>
                <a:cs typeface="Verdana"/>
              </a:rPr>
              <a:t>responsive </a:t>
            </a:r>
            <a:r>
              <a:rPr sz="1150" spc="15" dirty="0">
                <a:latin typeface="Verdana"/>
                <a:cs typeface="Verdana"/>
              </a:rPr>
              <a:t>UI  with </a:t>
            </a:r>
            <a:r>
              <a:rPr sz="1150" spc="20" dirty="0">
                <a:latin typeface="Verdana"/>
                <a:cs typeface="Verdana"/>
              </a:rPr>
              <a:t>HTML, </a:t>
            </a:r>
            <a:r>
              <a:rPr sz="1150" spc="25" dirty="0">
                <a:latin typeface="Verdana"/>
                <a:cs typeface="Verdana"/>
              </a:rPr>
              <a:t>CSS, </a:t>
            </a:r>
            <a:r>
              <a:rPr sz="1150" spc="15" dirty="0">
                <a:latin typeface="Verdana"/>
                <a:cs typeface="Verdana"/>
              </a:rPr>
              <a:t>Bootstrap </a:t>
            </a:r>
            <a:r>
              <a:rPr sz="1150" spc="25" dirty="0">
                <a:latin typeface="Verdana"/>
                <a:cs typeface="Verdana"/>
              </a:rPr>
              <a:t>and </a:t>
            </a:r>
            <a:r>
              <a:rPr lang="en-US" sz="1150" spc="15" dirty="0">
                <a:latin typeface="Verdana"/>
                <a:cs typeface="Verdana"/>
              </a:rPr>
              <a:t>Angular </a:t>
            </a:r>
            <a:r>
              <a:rPr sz="1150" spc="20" dirty="0">
                <a:latin typeface="Verdana"/>
                <a:cs typeface="Verdana"/>
              </a:rPr>
              <a:t>used as  </a:t>
            </a:r>
            <a:r>
              <a:rPr sz="1150" spc="15" dirty="0">
                <a:latin typeface="Verdana"/>
                <a:cs typeface="Verdana"/>
              </a:rPr>
              <a:t>User Interface.</a:t>
            </a:r>
            <a:endParaRPr lang="en-US" sz="1150" spc="15" dirty="0">
              <a:latin typeface="Verdana"/>
              <a:cs typeface="Verdana"/>
            </a:endParaRPr>
          </a:p>
          <a:p>
            <a:pPr marL="12700" marR="5080">
              <a:lnSpc>
                <a:spcPct val="119300"/>
              </a:lnSpc>
              <a:spcBef>
                <a:spcPts val="105"/>
              </a:spcBef>
            </a:pPr>
            <a:endParaRPr lang="en-US" sz="1150" spc="15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75072" y="5045049"/>
            <a:ext cx="3691254" cy="483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3599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Degreed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:Successfully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completed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degreed  training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in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git,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lang="en-US" sz="1400" spc="5" dirty="0">
                <a:latin typeface="Arial"/>
                <a:cs typeface="Arial"/>
              </a:rPr>
              <a:t>Jenkins , Agile and </a:t>
            </a:r>
            <a:r>
              <a:rPr lang="en-US" sz="1400" dirty="0">
                <a:latin typeface="Arial"/>
                <a:cs typeface="Arial"/>
              </a:rPr>
              <a:t>Angular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5599" y="622339"/>
            <a:ext cx="279653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Analyst/Software</a:t>
            </a:r>
            <a:r>
              <a:rPr sz="1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Verdana"/>
                <a:cs typeface="Verdana"/>
              </a:rPr>
              <a:t>Engineer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4609" y="2454803"/>
            <a:ext cx="4331335" cy="402046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62915">
              <a:lnSpc>
                <a:spcPct val="100000"/>
              </a:lnSpc>
              <a:spcBef>
                <a:spcPts val="525"/>
              </a:spcBef>
            </a:pPr>
            <a:r>
              <a:rPr sz="1150" b="1" spc="20" dirty="0">
                <a:solidFill>
                  <a:srgbClr val="006FAC"/>
                </a:solidFill>
                <a:latin typeface="Verdana"/>
                <a:cs typeface="Verdana"/>
              </a:rPr>
              <a:t>Strengths</a:t>
            </a:r>
            <a:endParaRPr sz="11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100" b="1" spc="5" dirty="0">
                <a:latin typeface="Verdana"/>
                <a:cs typeface="Verdana"/>
              </a:rPr>
              <a:t>Full Stack</a:t>
            </a:r>
            <a:r>
              <a:rPr sz="1100" b="1" spc="-100" dirty="0">
                <a:latin typeface="Verdana"/>
                <a:cs typeface="Verdana"/>
              </a:rPr>
              <a:t> </a:t>
            </a:r>
            <a:r>
              <a:rPr sz="1100" b="1" spc="5" dirty="0">
                <a:latin typeface="Verdana"/>
                <a:cs typeface="Verdana"/>
              </a:rPr>
              <a:t>Developer</a:t>
            </a:r>
            <a:endParaRPr sz="1100" dirty="0">
              <a:latin typeface="Verdana"/>
              <a:cs typeface="Verdana"/>
            </a:endParaRPr>
          </a:p>
          <a:p>
            <a:pPr marL="186055" marR="219710" indent="-173990" algn="just">
              <a:lnSpc>
                <a:spcPct val="114700"/>
              </a:lnSpc>
              <a:spcBef>
                <a:spcPts val="945"/>
              </a:spcBef>
              <a:buFont typeface="Arial"/>
              <a:buChar char="•"/>
              <a:tabLst>
                <a:tab pos="186690" algn="l"/>
              </a:tabLst>
            </a:pPr>
            <a:r>
              <a:rPr sz="1400" spc="-5" dirty="0">
                <a:latin typeface="Verdana"/>
                <a:cs typeface="Verdana"/>
              </a:rPr>
              <a:t>Hands </a:t>
            </a:r>
            <a:r>
              <a:rPr sz="1400" spc="5" dirty="0">
                <a:latin typeface="Verdana"/>
                <a:cs typeface="Verdana"/>
              </a:rPr>
              <a:t>on </a:t>
            </a:r>
            <a:r>
              <a:rPr sz="1400" dirty="0">
                <a:latin typeface="Verdana"/>
                <a:cs typeface="Verdana"/>
              </a:rPr>
              <a:t>experience </a:t>
            </a:r>
            <a:r>
              <a:rPr sz="1400" spc="5" dirty="0">
                <a:latin typeface="Verdana"/>
                <a:cs typeface="Verdana"/>
              </a:rPr>
              <a:t>on </a:t>
            </a:r>
            <a:r>
              <a:rPr lang="en-IN" sz="1400" spc="5" dirty="0">
                <a:latin typeface="Verdana"/>
                <a:cs typeface="Verdana"/>
              </a:rPr>
              <a:t>Core java, </a:t>
            </a:r>
            <a:r>
              <a:rPr lang="en-IN" sz="1400" spc="5" dirty="0" err="1">
                <a:latin typeface="Verdana"/>
                <a:cs typeface="Verdana"/>
              </a:rPr>
              <a:t>postgre</a:t>
            </a:r>
            <a:r>
              <a:rPr lang="en-IN" sz="1400" spc="5" dirty="0">
                <a:latin typeface="Verdana"/>
                <a:cs typeface="Verdana"/>
              </a:rPr>
              <a:t>-SQL,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lang="en-IN" sz="1400" spc="-15" dirty="0">
                <a:latin typeface="Verdana"/>
                <a:cs typeface="Verdana"/>
              </a:rPr>
              <a:t>Spring Restful Services.</a:t>
            </a:r>
            <a:endParaRPr sz="1400" dirty="0">
              <a:latin typeface="Verdana"/>
              <a:cs typeface="Verdana"/>
            </a:endParaRPr>
          </a:p>
          <a:p>
            <a:pPr marL="186055" marR="139700" indent="-173990">
              <a:lnSpc>
                <a:spcPct val="113599"/>
              </a:lnSpc>
              <a:spcBef>
                <a:spcPts val="1010"/>
              </a:spcBef>
              <a:buFont typeface="Arial"/>
              <a:buChar char="•"/>
              <a:tabLst>
                <a:tab pos="186690" algn="l"/>
              </a:tabLst>
            </a:pPr>
            <a:r>
              <a:rPr sz="1400" spc="5" dirty="0">
                <a:latin typeface="Verdana"/>
                <a:cs typeface="Verdana"/>
              </a:rPr>
              <a:t>Proficient </a:t>
            </a:r>
            <a:r>
              <a:rPr sz="1400" spc="20" dirty="0">
                <a:latin typeface="Verdana"/>
                <a:cs typeface="Verdana"/>
              </a:rPr>
              <a:t>in </a:t>
            </a:r>
            <a:r>
              <a:rPr sz="1400" dirty="0">
                <a:latin typeface="Verdana"/>
                <a:cs typeface="Verdana"/>
              </a:rPr>
              <a:t>creating </a:t>
            </a:r>
            <a:r>
              <a:rPr sz="1400" spc="15" dirty="0">
                <a:latin typeface="Verdana"/>
                <a:cs typeface="Verdana"/>
              </a:rPr>
              <a:t>Single </a:t>
            </a:r>
            <a:r>
              <a:rPr sz="1400" spc="-10" dirty="0">
                <a:latin typeface="Verdana"/>
                <a:cs typeface="Verdana"/>
              </a:rPr>
              <a:t>page </a:t>
            </a:r>
            <a:r>
              <a:rPr sz="1400" spc="-25" dirty="0">
                <a:latin typeface="Verdana"/>
                <a:cs typeface="Verdana"/>
              </a:rPr>
              <a:t>Web  </a:t>
            </a:r>
            <a:r>
              <a:rPr sz="1400" spc="5" dirty="0">
                <a:latin typeface="Verdana"/>
                <a:cs typeface="Verdana"/>
              </a:rPr>
              <a:t>Application </a:t>
            </a:r>
            <a:r>
              <a:rPr sz="1400" spc="20" dirty="0">
                <a:latin typeface="Verdana"/>
                <a:cs typeface="Verdana"/>
              </a:rPr>
              <a:t>in </a:t>
            </a:r>
            <a:r>
              <a:rPr lang="en-US" sz="1400" spc="-15" dirty="0">
                <a:latin typeface="Verdana"/>
                <a:cs typeface="Verdana"/>
              </a:rPr>
              <a:t>Angular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with Authentication</a:t>
            </a:r>
            <a:r>
              <a:rPr sz="1400" spc="-335" dirty="0">
                <a:latin typeface="Verdana"/>
                <a:cs typeface="Verdana"/>
              </a:rPr>
              <a:t> </a:t>
            </a:r>
            <a:r>
              <a:rPr lang="en-US" sz="1400" spc="5" dirty="0">
                <a:latin typeface="Verdana"/>
                <a:cs typeface="Verdana"/>
              </a:rPr>
              <a:t>and </a:t>
            </a:r>
            <a:r>
              <a:rPr sz="1400" spc="10" dirty="0">
                <a:latin typeface="Verdana"/>
                <a:cs typeface="Verdana"/>
              </a:rPr>
              <a:t>routing</a:t>
            </a:r>
            <a:endParaRPr lang="en-US" sz="1400" spc="10" dirty="0">
              <a:latin typeface="Verdana"/>
              <a:cs typeface="Verdana"/>
            </a:endParaRPr>
          </a:p>
          <a:p>
            <a:pPr marL="186055" marR="139700" indent="-173990">
              <a:lnSpc>
                <a:spcPct val="113599"/>
              </a:lnSpc>
              <a:spcBef>
                <a:spcPts val="1010"/>
              </a:spcBef>
              <a:buFont typeface="Arial"/>
              <a:buChar char="•"/>
              <a:tabLst>
                <a:tab pos="186690" algn="l"/>
              </a:tabLst>
            </a:pPr>
            <a:r>
              <a:rPr lang="en-US" sz="1400" spc="10" dirty="0">
                <a:latin typeface="Verdana"/>
                <a:cs typeface="Verdana"/>
              </a:rPr>
              <a:t>Good understanding of developing new Controller and Entity classes in Spring.</a:t>
            </a:r>
            <a:endParaRPr sz="1400" dirty="0">
              <a:latin typeface="Verdana"/>
              <a:cs typeface="Verdana"/>
            </a:endParaRPr>
          </a:p>
          <a:p>
            <a:pPr marL="186055" marR="5080" indent="-173990">
              <a:lnSpc>
                <a:spcPct val="114399"/>
              </a:lnSpc>
              <a:spcBef>
                <a:spcPts val="994"/>
              </a:spcBef>
              <a:buFont typeface="Arial"/>
              <a:buChar char="•"/>
              <a:tabLst>
                <a:tab pos="186690" algn="l"/>
              </a:tabLst>
            </a:pPr>
            <a:r>
              <a:rPr sz="1400" spc="-5" dirty="0">
                <a:latin typeface="Verdana"/>
                <a:cs typeface="Verdana"/>
              </a:rPr>
              <a:t>Hands </a:t>
            </a:r>
            <a:r>
              <a:rPr sz="1400" spc="5" dirty="0">
                <a:latin typeface="Verdana"/>
                <a:cs typeface="Verdana"/>
              </a:rPr>
              <a:t>on </a:t>
            </a:r>
            <a:r>
              <a:rPr sz="1400" dirty="0">
                <a:latin typeface="Verdana"/>
                <a:cs typeface="Verdana"/>
              </a:rPr>
              <a:t>experience </a:t>
            </a:r>
            <a:r>
              <a:rPr sz="1400" spc="20" dirty="0">
                <a:latin typeface="Verdana"/>
                <a:cs typeface="Verdana"/>
              </a:rPr>
              <a:t>in </a:t>
            </a:r>
            <a:r>
              <a:rPr sz="1400" spc="5" dirty="0">
                <a:latin typeface="Verdana"/>
                <a:cs typeface="Verdana"/>
              </a:rPr>
              <a:t>developing </a:t>
            </a:r>
            <a:r>
              <a:rPr sz="1400" spc="-5" dirty="0">
                <a:latin typeface="Verdana"/>
                <a:cs typeface="Verdana"/>
              </a:rPr>
              <a:t>web</a:t>
            </a:r>
            <a:r>
              <a:rPr sz="1400" spc="-2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pages  </a:t>
            </a:r>
            <a:r>
              <a:rPr sz="1400" spc="10" dirty="0">
                <a:latin typeface="Verdana"/>
                <a:cs typeface="Verdana"/>
              </a:rPr>
              <a:t>using </a:t>
            </a:r>
            <a:r>
              <a:rPr sz="1400" dirty="0">
                <a:latin typeface="Verdana"/>
                <a:cs typeface="Verdana"/>
              </a:rPr>
              <a:t>HTML, CSS</a:t>
            </a:r>
            <a:r>
              <a:rPr lang="en-US" sz="14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,</a:t>
            </a:r>
            <a:r>
              <a:rPr lang="en-US" sz="1400" dirty="0">
                <a:latin typeface="Verdana"/>
                <a:cs typeface="Verdana"/>
              </a:rPr>
              <a:t> JavaScript.</a:t>
            </a:r>
            <a:endParaRPr sz="1400" dirty="0">
              <a:latin typeface="Verdana"/>
              <a:cs typeface="Verdana"/>
            </a:endParaRPr>
          </a:p>
          <a:p>
            <a:pPr marL="186055" marR="324485" indent="-173990">
              <a:lnSpc>
                <a:spcPct val="113599"/>
              </a:lnSpc>
              <a:spcBef>
                <a:spcPts val="1005"/>
              </a:spcBef>
              <a:buFont typeface="Arial"/>
              <a:buChar char="•"/>
              <a:tabLst>
                <a:tab pos="186690" algn="l"/>
              </a:tabLst>
            </a:pPr>
            <a:r>
              <a:rPr sz="1400" spc="-15" dirty="0">
                <a:latin typeface="Verdana"/>
                <a:cs typeface="Verdana"/>
              </a:rPr>
              <a:t>Ready </a:t>
            </a:r>
            <a:r>
              <a:rPr sz="1400" spc="-5" dirty="0">
                <a:latin typeface="Verdana"/>
                <a:cs typeface="Verdana"/>
              </a:rPr>
              <a:t>to </a:t>
            </a:r>
            <a:r>
              <a:rPr sz="1400" spc="5" dirty="0">
                <a:latin typeface="Verdana"/>
                <a:cs typeface="Verdana"/>
              </a:rPr>
              <a:t>learn </a:t>
            </a:r>
            <a:r>
              <a:rPr sz="1400" dirty="0">
                <a:latin typeface="Verdana"/>
                <a:cs typeface="Verdana"/>
              </a:rPr>
              <a:t>new </a:t>
            </a:r>
            <a:r>
              <a:rPr sz="1400" spc="5" dirty="0">
                <a:latin typeface="Verdana"/>
                <a:cs typeface="Verdana"/>
              </a:rPr>
              <a:t>technologies </a:t>
            </a:r>
            <a:r>
              <a:rPr sz="1400" spc="-5" dirty="0">
                <a:latin typeface="Verdana"/>
                <a:cs typeface="Verdana"/>
              </a:rPr>
              <a:t>and  </a:t>
            </a:r>
            <a:r>
              <a:rPr sz="1400" spc="10" dirty="0">
                <a:latin typeface="Verdana"/>
                <a:cs typeface="Verdana"/>
              </a:rPr>
              <a:t>implement </a:t>
            </a:r>
            <a:r>
              <a:rPr sz="1400" spc="-5" dirty="0">
                <a:latin typeface="Verdana"/>
                <a:cs typeface="Verdana"/>
              </a:rPr>
              <a:t>them </a:t>
            </a:r>
            <a:r>
              <a:rPr sz="1400" spc="5" dirty="0">
                <a:latin typeface="Verdana"/>
                <a:cs typeface="Verdana"/>
              </a:rPr>
              <a:t>for </a:t>
            </a:r>
            <a:r>
              <a:rPr sz="1400" dirty="0">
                <a:latin typeface="Verdana"/>
                <a:cs typeface="Verdana"/>
              </a:rPr>
              <a:t>the Future</a:t>
            </a:r>
            <a:r>
              <a:rPr sz="1400" spc="-229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Knowledge</a:t>
            </a:r>
            <a:r>
              <a:rPr lang="en-US" sz="1400" dirty="0">
                <a:latin typeface="Verdana"/>
                <a:cs typeface="Verdana"/>
              </a:rPr>
              <a:t>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895598" y="262362"/>
            <a:ext cx="3200401" cy="33470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pc="-15" dirty="0"/>
              <a:t>S Ilavarasi</a:t>
            </a:r>
            <a:endParaRPr spc="-10" dirty="0"/>
          </a:p>
        </p:txBody>
      </p:sp>
      <p:sp>
        <p:nvSpPr>
          <p:cNvPr id="17" name="object 17">
            <a:hlinkClick r:id="rId5"/>
          </p:cNvPr>
          <p:cNvSpPr/>
          <p:nvPr/>
        </p:nvSpPr>
        <p:spPr>
          <a:xfrm>
            <a:off x="5223611" y="6240403"/>
            <a:ext cx="468527" cy="4709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5816346" y="6423456"/>
            <a:ext cx="214757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5" dirty="0">
                <a:latin typeface="Verdana"/>
                <a:cs typeface="Verdana"/>
              </a:rPr>
              <a:t>Check </a:t>
            </a:r>
            <a:r>
              <a:rPr sz="1100" spc="10" dirty="0">
                <a:latin typeface="Verdana"/>
                <a:cs typeface="Verdana"/>
              </a:rPr>
              <a:t>out </a:t>
            </a:r>
            <a:r>
              <a:rPr sz="1100" spc="5" dirty="0">
                <a:latin typeface="Verdana"/>
                <a:cs typeface="Verdana"/>
              </a:rPr>
              <a:t>my </a:t>
            </a:r>
            <a:r>
              <a:rPr sz="1100" dirty="0">
                <a:latin typeface="Verdana"/>
                <a:cs typeface="Verdana"/>
              </a:rPr>
              <a:t>work </a:t>
            </a:r>
            <a:r>
              <a:rPr sz="1100" spc="10" dirty="0">
                <a:latin typeface="Verdana"/>
                <a:cs typeface="Verdana"/>
              </a:rPr>
              <a:t>on</a:t>
            </a:r>
            <a:r>
              <a:rPr sz="1100" spc="-225" dirty="0">
                <a:latin typeface="Verdana"/>
                <a:cs typeface="Verdana"/>
              </a:rPr>
              <a:t> </a:t>
            </a:r>
            <a:r>
              <a:rPr sz="1100" spc="5" dirty="0">
                <a:latin typeface="Verdana"/>
                <a:cs typeface="Verdana"/>
              </a:rPr>
              <a:t>GitHub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95597" y="1247636"/>
            <a:ext cx="3395219" cy="10701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25"/>
              </a:spcBef>
            </a:pPr>
            <a:r>
              <a:rPr sz="1650" b="1" spc="15" baseline="2525" dirty="0">
                <a:solidFill>
                  <a:srgbClr val="FFFFFF"/>
                </a:solidFill>
                <a:latin typeface="Verdana"/>
                <a:cs typeface="Verdana"/>
              </a:rPr>
              <a:t>Base </a:t>
            </a:r>
            <a:r>
              <a:rPr sz="1650" b="1" spc="7" baseline="2525" dirty="0">
                <a:solidFill>
                  <a:srgbClr val="FFFFFF"/>
                </a:solidFill>
                <a:latin typeface="Verdana"/>
                <a:cs typeface="Verdana"/>
              </a:rPr>
              <a:t>Location:</a:t>
            </a:r>
            <a:r>
              <a:rPr b="1" spc="-67" baseline="25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US" b="1" spc="10" baseline="2525" dirty="0">
                <a:solidFill>
                  <a:srgbClr val="FFFFFF"/>
                </a:solidFill>
                <a:latin typeface="Verdana"/>
                <a:cs typeface="Verdana"/>
              </a:rPr>
              <a:t>Tamil Nadu</a:t>
            </a:r>
            <a:endParaRPr dirty="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  <a:spcBef>
                <a:spcPts val="635"/>
              </a:spcBef>
            </a:pPr>
            <a:r>
              <a:rPr sz="1650" b="1" spc="15" baseline="2525" dirty="0">
                <a:solidFill>
                  <a:srgbClr val="FFFFFF"/>
                </a:solidFill>
                <a:latin typeface="Verdana"/>
                <a:cs typeface="Verdana"/>
              </a:rPr>
              <a:t>Email ID:</a:t>
            </a:r>
            <a:r>
              <a:rPr sz="1650" b="1" spc="195" baseline="25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IN" sz="1100" b="1" u="sng" spc="195" baseline="2525" dirty="0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</a:rPr>
              <a:t>ILAVARASI.S@CAPGEMINI.COM</a:t>
            </a:r>
            <a:endParaRPr sz="1100" dirty="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  <a:spcBef>
                <a:spcPts val="489"/>
              </a:spcBef>
            </a:pPr>
            <a:r>
              <a:rPr sz="1100" b="1" spc="5" dirty="0">
                <a:solidFill>
                  <a:srgbClr val="FFFFFF"/>
                </a:solidFill>
                <a:latin typeface="Verdana"/>
                <a:cs typeface="Verdana"/>
              </a:rPr>
              <a:t>Mobile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No:</a:t>
            </a:r>
            <a:r>
              <a:rPr sz="1100" b="1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US" sz="1650" b="1" spc="7" baseline="2525" dirty="0">
                <a:solidFill>
                  <a:srgbClr val="FFFFFF"/>
                </a:solidFill>
                <a:latin typeface="Verdana"/>
                <a:cs typeface="Verdana"/>
              </a:rPr>
              <a:t>9087045534</a:t>
            </a:r>
            <a:endParaRPr sz="1650" baseline="2525" dirty="0">
              <a:latin typeface="Verdana"/>
              <a:cs typeface="Verdana"/>
            </a:endParaRPr>
          </a:p>
          <a:p>
            <a:pPr marL="56515">
              <a:lnSpc>
                <a:spcPct val="100000"/>
              </a:lnSpc>
              <a:spcBef>
                <a:spcPts val="390"/>
              </a:spcBef>
            </a:pPr>
            <a:r>
              <a:rPr sz="1100" b="1" spc="10" dirty="0">
                <a:solidFill>
                  <a:srgbClr val="FFFFFF"/>
                </a:solidFill>
                <a:latin typeface="Verdana"/>
                <a:cs typeface="Verdana"/>
              </a:rPr>
              <a:t>Grade:</a:t>
            </a:r>
            <a:r>
              <a:rPr sz="1100" b="1" spc="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aseline="-5050" dirty="0">
                <a:solidFill>
                  <a:srgbClr val="FFFFFF"/>
                </a:solidFill>
                <a:latin typeface="Verdana"/>
                <a:cs typeface="Verdana"/>
              </a:rPr>
              <a:t>A4</a:t>
            </a:r>
            <a:endParaRPr sz="1650" baseline="-5050" dirty="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23958" y="353644"/>
            <a:ext cx="2644775" cy="963982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1760" marR="5080" indent="25400">
              <a:lnSpc>
                <a:spcPct val="104500"/>
              </a:lnSpc>
              <a:spcBef>
                <a:spcPts val="25"/>
              </a:spcBef>
            </a:pPr>
            <a:r>
              <a:rPr sz="1200" b="1" spc="-10" dirty="0">
                <a:solidFill>
                  <a:srgbClr val="006FAC"/>
                </a:solidFill>
                <a:latin typeface="Verdana"/>
                <a:cs typeface="Verdana"/>
              </a:rPr>
              <a:t>Education 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and </a:t>
            </a:r>
            <a:r>
              <a:rPr sz="1200" b="1" spc="-15" dirty="0">
                <a:solidFill>
                  <a:srgbClr val="006FAC"/>
                </a:solidFill>
                <a:latin typeface="Verdana"/>
                <a:cs typeface="Verdana"/>
              </a:rPr>
              <a:t>certificates  </a:t>
            </a:r>
            <a:r>
              <a:rPr sz="1000" spc="10" dirty="0">
                <a:latin typeface="Verdana"/>
                <a:cs typeface="Verdana"/>
              </a:rPr>
              <a:t>Bachelor </a:t>
            </a:r>
            <a:r>
              <a:rPr sz="1000" dirty="0">
                <a:latin typeface="Verdana"/>
                <a:cs typeface="Verdana"/>
              </a:rPr>
              <a:t>of </a:t>
            </a:r>
            <a:r>
              <a:rPr lang="en-US" sz="1000" spc="10" dirty="0">
                <a:latin typeface="Verdana"/>
                <a:cs typeface="Verdana"/>
              </a:rPr>
              <a:t>Engineering</a:t>
            </a:r>
            <a:r>
              <a:rPr sz="1000" spc="10" dirty="0">
                <a:latin typeface="Verdana"/>
                <a:cs typeface="Verdana"/>
              </a:rPr>
              <a:t>, </a:t>
            </a:r>
            <a:r>
              <a:rPr lang="en-IN" sz="1000" spc="10" dirty="0">
                <a:latin typeface="Verdana"/>
                <a:cs typeface="Verdana"/>
              </a:rPr>
              <a:t>Electronics and Communication </a:t>
            </a:r>
            <a:r>
              <a:rPr sz="1000" spc="10" dirty="0">
                <a:latin typeface="Verdana"/>
                <a:cs typeface="Verdana"/>
              </a:rPr>
              <a:t>Engineering</a:t>
            </a:r>
            <a:r>
              <a:rPr sz="1000" spc="-1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: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spc="5" dirty="0">
                <a:latin typeface="Verdana"/>
                <a:cs typeface="Verdana"/>
              </a:rPr>
              <a:t>20</a:t>
            </a:r>
            <a:r>
              <a:rPr lang="en-US" sz="1000" spc="5" dirty="0">
                <a:latin typeface="Verdana"/>
                <a:cs typeface="Verdana"/>
              </a:rPr>
              <a:t>15-2019</a:t>
            </a:r>
            <a:endParaRPr sz="1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000" b="1" spc="5" dirty="0">
                <a:solidFill>
                  <a:srgbClr val="006FAC"/>
                </a:solidFill>
                <a:latin typeface="Verdana"/>
                <a:cs typeface="Verdana"/>
              </a:rPr>
              <a:t>Skills</a:t>
            </a:r>
            <a:endParaRPr sz="1000" dirty="0">
              <a:latin typeface="Verdana"/>
              <a:cs typeface="Verdana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5DAFD15-2F90-4356-B4E2-389DB7B48C1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4364" y="262362"/>
            <a:ext cx="1425456" cy="17646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7D4E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240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Carlito</vt:lpstr>
      <vt:lpstr>Verdana</vt:lpstr>
      <vt:lpstr>Office Theme</vt:lpstr>
      <vt:lpstr>S Ilavarasi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Kushal Hiremath</dc:title>
  <cp:lastModifiedBy>S, Ilavarasi</cp:lastModifiedBy>
  <cp:revision>16</cp:revision>
  <dcterms:created xsi:type="dcterms:W3CDTF">2022-06-20T12:42:38Z</dcterms:created>
  <dcterms:modified xsi:type="dcterms:W3CDTF">2022-06-21T05:36:49Z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2022-06-20T00:00:00Z</vt:filetime>
  </property>
</Properties>
</file>